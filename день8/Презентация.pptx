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73" d="100"/>
          <a:sy n="73" d="100"/>
        </p:scale>
        <p:origin x="75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E70D8-E793-4006-AAE2-0004D23BC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745E11-33A9-4C5C-85F2-791E09641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443669-2295-44DF-B66D-BDED5AE7E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422BEA-8B7C-47AF-A70F-0A2E6058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BC030B-A078-4703-B26E-EAD0178C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611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3EA53-AFAE-4DFB-9059-073BD93DD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E583F7-EB2B-4CB8-94BF-A5E8F68B0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C3D930-A758-40F4-B8FD-0C44B6388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E2CAC8-EF0F-4E23-8966-DD548AAB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372FC6-457D-4813-93B4-C7D6DEBA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23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08432-FF37-4FDB-B4A3-AA53559E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0D4CC6-C2BF-450E-9B99-B3CC3AA98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EBC61-A6D0-4EAE-9726-FB77226F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73B618-727E-4012-8EE9-3696F2DC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D6A5BF-AAB0-4924-9907-289D2E92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88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1FC3B-4919-46FF-8E86-AB8ADACB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D60EBB-E43B-4F41-8A59-0C2A26798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E4461A-4DA4-4D71-9555-69BE0C1A3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A04D12-0628-4C65-919D-0AAA49A1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8347D3-9123-4D13-BC5D-61326C6F7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52EFC4-BDCF-4FA7-A445-330FC598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360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9C2D8-5BA8-4370-AF92-DB000331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313205-AABF-4A4E-9269-270481FD8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0BD633-5647-4422-BC91-13DC3A82E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F67D231-A554-4A3E-84B9-B2FA32944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5B08D6-758D-44A8-8501-8BBE53A72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88DF29-3ECA-4303-B883-20E8743F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C27582-9983-4961-82AC-739536828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BEDF94-D718-4FE3-A724-5C9D67AC1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69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802F4-3591-448A-8FCD-1DF6F517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A2273B7-85C2-4F2F-99E2-965B6DA0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8B06E0-66B5-483C-B31E-4190E7E6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72F37AF-589B-46A7-BC61-3D55E4EC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48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AF4AE84-AD96-4642-8C13-75CDC78C3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6A798DF-9DF8-4598-82C4-DBF18F388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4D0E14-E2D7-4FC1-9080-41949B186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679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79049-C527-4D53-823A-32482962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6BA78-72C8-418F-B4FE-30AAAD00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09CFC97-B736-496F-B85E-7854A479D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57E5D5-0CCE-4D2A-BDE4-C50094203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5F690E-4BF0-401C-AB34-DD969CA2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662955-89F0-4BE6-B515-704D70E86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90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EE7E4-8466-4425-B878-78EC72640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59C8AE-31FC-4E6A-B841-337ECEE59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7D19A4-63B2-47B0-8307-54327F4C2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46BB4F-DBA1-49FA-9919-8CE6E241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C8DE1F-A68C-480C-865D-83B1A6800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02062B-30EC-4765-A0DA-5E966BBB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88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51E74-14A4-4ADA-BC97-274F87CA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16E766-A8B6-4437-8330-C5A8B2601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9AA25A-0249-4EC5-A3A5-32C706B9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646D6D-B034-4049-9334-42CACEFA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45BB2C-1BFA-4297-AD85-231AFB70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333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542DA6-8265-4CDF-B7D5-DAFDF892E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3A75D10-662D-4AA7-99DC-BC4B583CF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76D70D-BDB5-4E62-B29E-38FC54C5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375AE-7C58-477A-8876-E6FB6797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6D156E-0978-4B25-9CB0-EB145FD6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619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7000">
              <a:schemeClr val="accent1">
                <a:lumMod val="5000"/>
                <a:lumOff val="95000"/>
              </a:schemeClr>
            </a:gs>
            <a:gs pos="100000">
              <a:srgbClr val="ABC0E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25882-0C66-4C8E-80A6-433D0B42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D196A6-8536-431D-BED2-E41CCCA1C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ED9945-C609-4A7D-87EB-07109189F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E4A9F-7A08-4A25-9828-1439FBCA1B7A}" type="datetimeFigureOut">
              <a:rPr lang="ru-RU" smtClean="0"/>
              <a:pPr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D60B45-D604-4EDD-9AB1-7D7B43BA5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B89648-992F-4F8B-A030-DF9D0D4EE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94EBC-3ACE-4F74-A9C3-4A5FBECB6AA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44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61F9E-0B07-4BB3-8CCA-A21E6F170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507188"/>
            <a:ext cx="9144000" cy="19015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ПМ.04 Сопровождение и обслуживание программного обеспечения компьютерных систем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E2556A-8C10-4DCD-8E29-4626101B9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1814" y="3547342"/>
            <a:ext cx="5087566" cy="2853458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dirty="0"/>
              <a:t>Выполнила: </a:t>
            </a:r>
          </a:p>
          <a:p>
            <a:pPr algn="l"/>
            <a:r>
              <a:rPr lang="ru-RU" dirty="0" smtClean="0"/>
              <a:t>Чемоданов Роман Юрьевич</a:t>
            </a:r>
          </a:p>
          <a:p>
            <a:pPr algn="l"/>
            <a:r>
              <a:rPr lang="ru-RU" dirty="0" smtClean="0"/>
              <a:t>Группа 23П-2</a:t>
            </a:r>
          </a:p>
          <a:p>
            <a:pPr algn="l"/>
            <a:r>
              <a:rPr lang="ru-RU" dirty="0" smtClean="0"/>
              <a:t>Специальность</a:t>
            </a:r>
            <a:r>
              <a:rPr lang="ru-RU" dirty="0"/>
              <a:t>: </a:t>
            </a:r>
          </a:p>
          <a:p>
            <a:pPr algn="l"/>
            <a:r>
              <a:rPr lang="ru-RU" dirty="0"/>
              <a:t>09.02.07 Информационные системы и программирование</a:t>
            </a:r>
          </a:p>
          <a:p>
            <a:pPr algn="l"/>
            <a:r>
              <a:rPr lang="ru-RU" dirty="0"/>
              <a:t>Форма обучения: очная</a:t>
            </a:r>
          </a:p>
          <a:p>
            <a:pPr algn="l"/>
            <a:r>
              <a:rPr lang="ru-RU" dirty="0"/>
              <a:t>Руководитель:: </a:t>
            </a:r>
            <a:r>
              <a:rPr lang="ru-RU" dirty="0" err="1"/>
              <a:t>Пентин</a:t>
            </a:r>
            <a:r>
              <a:rPr lang="ru-RU" dirty="0"/>
              <a:t> Николай Сергеевич</a:t>
            </a:r>
          </a:p>
          <a:p>
            <a:pPr algn="l"/>
            <a:endParaRPr lang="ru-RU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C5ED6EA-F80B-4D7B-9656-F38219709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931" y="355817"/>
            <a:ext cx="7704137" cy="1006475"/>
          </a:xfrm>
          <a:prstGeom prst="rect">
            <a:avLst/>
          </a:prstGeom>
          <a:solidFill>
            <a:schemeClr val="bg1">
              <a:alpha val="4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ru-RU" altLang="ru-RU" sz="2000" dirty="0"/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2000" dirty="0"/>
              <a:t>«Слободской колледж педагогики и социальных отношений»</a:t>
            </a:r>
          </a:p>
        </p:txBody>
      </p:sp>
      <p:pic>
        <p:nvPicPr>
          <p:cNvPr id="5" name="Picture 14" descr="touch-icon-ipad-retina">
            <a:extLst>
              <a:ext uri="{FF2B5EF4-FFF2-40B4-BE49-F238E27FC236}">
                <a16:creationId xmlns:a16="http://schemas.microsoft.com/office/drawing/2014/main" id="{3F50CCB7-BCFB-4B90-80AF-73B2EABBC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22" y="109646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5">
            <a:extLst>
              <a:ext uri="{FF2B5EF4-FFF2-40B4-BE49-F238E27FC236}">
                <a16:creationId xmlns:a16="http://schemas.microsoft.com/office/drawing/2014/main" id="{A44A0B62-7BFA-4EE7-82BC-8DBA0521E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755" y="6198669"/>
            <a:ext cx="23764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alt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4699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7CC56-5498-EC6D-67D0-E648C9E29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6886AA-81CF-C087-FCB3-0A2493573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Цель практики:</a:t>
            </a:r>
          </a:p>
          <a:p>
            <a:r>
              <a:rPr lang="ru-RU" dirty="0"/>
              <a:t>Закрепление теоретических знаний и получение практических навыков в области установки, настройки и администрирования программного обеспечения, разработки и тестирования программных модулей, развертывания готовых решений.</a:t>
            </a:r>
          </a:p>
          <a:p>
            <a:r>
              <a:rPr lang="ru-RU" dirty="0"/>
              <a:t>Основные задачи:</a:t>
            </a:r>
          </a:p>
          <a:p>
            <a:r>
              <a:rPr lang="ru-RU" dirty="0"/>
              <a:t>Изучить инфраструктуру IT-отдела колледжа</a:t>
            </a:r>
          </a:p>
          <a:p>
            <a:r>
              <a:rPr lang="ru-RU" dirty="0"/>
              <a:t>Освоить установку и настройку операционных систем</a:t>
            </a:r>
          </a:p>
          <a:p>
            <a:r>
              <a:rPr lang="ru-RU" dirty="0"/>
              <a:t>Приобрести навыки работы с ПО виртуализации</a:t>
            </a:r>
          </a:p>
          <a:p>
            <a:r>
              <a:rPr lang="ru-RU" dirty="0"/>
              <a:t>Выполнить доработку и тестирование программного модуля</a:t>
            </a:r>
          </a:p>
          <a:p>
            <a:r>
              <a:rPr lang="ru-RU" dirty="0"/>
              <a:t>Развернуть готовое программное решение (NAS)</a:t>
            </a:r>
          </a:p>
          <a:p>
            <a:r>
              <a:rPr lang="ru-RU" dirty="0"/>
              <a:t>Создать конфигурацию учебного сайта</a:t>
            </a:r>
          </a:p>
        </p:txBody>
      </p:sp>
    </p:spTree>
    <p:extLst>
      <p:ext uri="{BB962C8B-B14F-4D97-AF65-F5344CB8AC3E}">
        <p14:creationId xmlns:p14="http://schemas.microsoft.com/office/powerpoint/2010/main" val="92845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C43DF-BF4D-4974-B386-12CD50763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Установка и настройка ОС (</a:t>
            </a:r>
            <a:r>
              <a:rPr lang="ru-RU" sz="3600" b="1" dirty="0" err="1"/>
              <a:t>VirtualBox</a:t>
            </a:r>
            <a:r>
              <a:rPr lang="ru-RU" sz="3600" b="1" dirty="0"/>
              <a:t> + Ubuntu)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EA7DD78-BAE0-4062-9389-1D3733B1BBA4}"/>
              </a:ext>
            </a:extLst>
          </p:cNvPr>
          <p:cNvSpPr txBox="1">
            <a:spLocks/>
          </p:cNvSpPr>
          <p:nvPr/>
        </p:nvSpPr>
        <p:spPr>
          <a:xfrm>
            <a:off x="1524000" y="155499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186AF2B-7B69-9303-A357-3A9283BB77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445" y="2109962"/>
            <a:ext cx="7833798" cy="3835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ru-RU" dirty="0"/>
              <a:t>Выполненные действия:</a:t>
            </a:r>
          </a:p>
          <a:p>
            <a:pPr marL="0" indent="0">
              <a:buNone/>
            </a:pPr>
            <a:r>
              <a:rPr lang="ru-RU" dirty="0"/>
              <a:t>Установлен </a:t>
            </a:r>
            <a:r>
              <a:rPr lang="ru-RU" dirty="0" err="1"/>
              <a:t>VirtualBox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Создана ВМ с указанными параметрами</a:t>
            </a:r>
          </a:p>
          <a:p>
            <a:pPr marL="0" indent="0">
              <a:buNone/>
            </a:pPr>
            <a:r>
              <a:rPr lang="ru-RU" dirty="0"/>
              <a:t>Установлена Ubuntu 22.04 LTS</a:t>
            </a:r>
          </a:p>
          <a:p>
            <a:pPr marL="0" indent="0">
              <a:buNone/>
            </a:pPr>
            <a:r>
              <a:rPr lang="ru-RU" dirty="0"/>
              <a:t>Установлены </a:t>
            </a:r>
            <a:r>
              <a:rPr lang="ru-RU" dirty="0" err="1"/>
              <a:t>Guest</a:t>
            </a:r>
            <a:r>
              <a:rPr lang="ru-RU" dirty="0"/>
              <a:t> </a:t>
            </a:r>
            <a:r>
              <a:rPr lang="ru-RU" dirty="0" err="1"/>
              <a:t>Additions</a:t>
            </a:r>
            <a:r>
              <a:rPr lang="ru-RU" dirty="0"/>
              <a:t> (дополнения гостевой ОС)</a:t>
            </a:r>
          </a:p>
          <a:p>
            <a:pPr marL="0" indent="0">
              <a:buNone/>
            </a:pPr>
            <a:r>
              <a:rPr lang="ru-RU" dirty="0"/>
              <a:t>Результат: Виртуальная машина полностью готова к работе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AutoShape 4" descr="Мерседес на подъёмнике в ремонте">
            <a:extLst>
              <a:ext uri="{FF2B5EF4-FFF2-40B4-BE49-F238E27FC236}">
                <a16:creationId xmlns:a16="http://schemas.microsoft.com/office/drawing/2014/main" id="{E32FBD46-92CA-8970-5EB6-4C32326FD3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2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D14948B-999B-4BA8-9D35-9F9344834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8522"/>
            <a:ext cx="10515600" cy="882166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/>
              <a:t>Установка ОС (РЕД ОС 8)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9BC7258-D619-B402-D6CA-496B795EBBE9}"/>
              </a:ext>
            </a:extLst>
          </p:cNvPr>
          <p:cNvSpPr txBox="1">
            <a:spLocks/>
          </p:cNvSpPr>
          <p:nvPr/>
        </p:nvSpPr>
        <p:spPr>
          <a:xfrm>
            <a:off x="1524000" y="291686"/>
            <a:ext cx="9144000" cy="516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BDE477-82BF-1369-AE39-327AD285B8BA}"/>
              </a:ext>
            </a:extLst>
          </p:cNvPr>
          <p:cNvSpPr txBox="1"/>
          <p:nvPr/>
        </p:nvSpPr>
        <p:spPr>
          <a:xfrm>
            <a:off x="1957691" y="2207524"/>
            <a:ext cx="60943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Параметры установки:</a:t>
            </a:r>
          </a:p>
          <a:p>
            <a:endParaRPr lang="ru-RU" dirty="0"/>
          </a:p>
          <a:p>
            <a:r>
              <a:rPr lang="ru-RU" dirty="0"/>
              <a:t>Язык: Русский</a:t>
            </a:r>
          </a:p>
          <a:p>
            <a:endParaRPr lang="ru-RU" dirty="0"/>
          </a:p>
          <a:p>
            <a:r>
              <a:rPr lang="ru-RU" dirty="0"/>
              <a:t>Конфигурация: Рабочая станция + ПО для образования</a:t>
            </a:r>
          </a:p>
          <a:p>
            <a:endParaRPr lang="ru-RU" dirty="0"/>
          </a:p>
          <a:p>
            <a:r>
              <a:rPr lang="ru-RU" dirty="0"/>
              <a:t>Разметка диска: автоматическая</a:t>
            </a:r>
          </a:p>
          <a:p>
            <a:endParaRPr lang="ru-RU" dirty="0"/>
          </a:p>
          <a:p>
            <a:r>
              <a:rPr lang="ru-RU" dirty="0"/>
              <a:t>Пользователь: </a:t>
            </a:r>
            <a:r>
              <a:rPr lang="ru-RU" dirty="0" err="1"/>
              <a:t>student</a:t>
            </a:r>
            <a:r>
              <a:rPr lang="ru-RU" dirty="0"/>
              <a:t> (администратор)</a:t>
            </a:r>
          </a:p>
          <a:p>
            <a:endParaRPr lang="ru-RU" dirty="0"/>
          </a:p>
          <a:p>
            <a:r>
              <a:rPr lang="ru-RU" dirty="0"/>
              <a:t>Результат: Система готова к использованию в учебном процессе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3DA8DA-0179-1DF4-E7E7-E3EC2A83A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930" y="1896384"/>
            <a:ext cx="369125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47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3621D-3B8F-D7FB-AE46-B22F1FB82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Сравнительный анализ ОС 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F6FE420-A095-5C2A-96C8-8F76E1847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993927"/>
              </p:ext>
            </p:extLst>
          </p:nvPr>
        </p:nvGraphicFramePr>
        <p:xfrm>
          <a:off x="847009" y="1822870"/>
          <a:ext cx="10497982" cy="43568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95171">
                  <a:extLst>
                    <a:ext uri="{9D8B030D-6E8A-4147-A177-3AD203B41FA5}">
                      <a16:colId xmlns:a16="http://schemas.microsoft.com/office/drawing/2014/main" val="1671884027"/>
                    </a:ext>
                  </a:extLst>
                </a:gridCol>
                <a:gridCol w="2700937">
                  <a:extLst>
                    <a:ext uri="{9D8B030D-6E8A-4147-A177-3AD203B41FA5}">
                      <a16:colId xmlns:a16="http://schemas.microsoft.com/office/drawing/2014/main" val="3898252279"/>
                    </a:ext>
                  </a:extLst>
                </a:gridCol>
                <a:gridCol w="2700937">
                  <a:extLst>
                    <a:ext uri="{9D8B030D-6E8A-4147-A177-3AD203B41FA5}">
                      <a16:colId xmlns:a16="http://schemas.microsoft.com/office/drawing/2014/main" val="416286883"/>
                    </a:ext>
                  </a:extLst>
                </a:gridCol>
                <a:gridCol w="2700937">
                  <a:extLst>
                    <a:ext uri="{9D8B030D-6E8A-4147-A177-3AD203B41FA5}">
                      <a16:colId xmlns:a16="http://schemas.microsoft.com/office/drawing/2014/main" val="330349708"/>
                    </a:ext>
                  </a:extLst>
                </a:gridCol>
              </a:tblGrid>
              <a:tr h="426005">
                <a:tc>
                  <a:txBody>
                    <a:bodyPr/>
                    <a:lstStyle/>
                    <a:p>
                      <a:pPr algn="l"/>
                      <a:r>
                        <a:rPr lang="ru-RU" sz="1800" b="0" dirty="0">
                          <a:effectLst/>
                        </a:rPr>
                        <a:t>Параметр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0">
                          <a:effectLst/>
                        </a:rPr>
                        <a:t>РЕД ОС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</a:rPr>
                        <a:t>Windows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>
                          <a:effectLst/>
                        </a:rPr>
                        <a:t>Linux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3520229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Лицензия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Открытый код (частично)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Проприетарная (платная)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Свободная (</a:t>
                      </a:r>
                      <a:r>
                        <a:rPr lang="en-US" sz="1800" b="0">
                          <a:effectLst/>
                        </a:rPr>
                        <a:t>GPL)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368540"/>
                  </a:ext>
                </a:extLst>
              </a:tr>
              <a:tr h="426005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Стоимость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Бесплатно (базовая)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Платная лицензия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Бесплатно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6492071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Безопасность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Высокая (сертификация ФСТЭК)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Средняя / высокая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Высокая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189932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Требования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Низкие (2 ГБ ОЗУ)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Высокие (4+ ГБ ОЗУ, TPM 2.0)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Низкие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871844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Удобство для новичков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Среднее (похож на </a:t>
                      </a:r>
                      <a:r>
                        <a:rPr lang="en-US" sz="1800" b="0">
                          <a:effectLst/>
                        </a:rPr>
                        <a:t>Windows)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Высокое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Зависит от окружения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4162398"/>
                  </a:ext>
                </a:extLst>
              </a:tr>
              <a:tr h="699866"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Область применения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91287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Госструктуры, импортозамещение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</a:rPr>
                        <a:t>Домашние пользователи, офисы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21716" marR="121716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</a:rPr>
                        <a:t>Серверы, разработка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21716" marR="91287" marT="76072" marB="760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52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22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98CECE-DAC5-E269-735B-8A6CFD5E6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Доработка программного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5F4D2D-8486-39F5-49F5-3EE080069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Выполненная доработка:</a:t>
            </a:r>
          </a:p>
          <a:p>
            <a:endParaRPr lang="ru-RU" dirty="0"/>
          </a:p>
          <a:p>
            <a:r>
              <a:rPr lang="ru-RU" dirty="0"/>
              <a:t>Разбиение на отдельные функции (модульная структура)</a:t>
            </a:r>
          </a:p>
          <a:p>
            <a:endParaRPr lang="ru-RU" dirty="0"/>
          </a:p>
          <a:p>
            <a:r>
              <a:rPr lang="ru-RU" dirty="0"/>
              <a:t>Добавление обработки исключений (деление на ноль, некорректный ввод)</a:t>
            </a:r>
          </a:p>
          <a:p>
            <a:endParaRPr lang="ru-RU" dirty="0"/>
          </a:p>
          <a:p>
            <a:r>
              <a:rPr lang="ru-RU" dirty="0"/>
              <a:t>Реализация системы </a:t>
            </a:r>
            <a:r>
              <a:rPr lang="ru-RU" dirty="0" err="1"/>
              <a:t>логгирования</a:t>
            </a:r>
            <a:r>
              <a:rPr lang="ru-RU" dirty="0"/>
              <a:t> (файл + консоль)</a:t>
            </a:r>
          </a:p>
          <a:p>
            <a:endParaRPr lang="ru-RU" dirty="0"/>
          </a:p>
          <a:p>
            <a:r>
              <a:rPr lang="ru-RU" dirty="0"/>
              <a:t>Добавление функции сохранения результатов</a:t>
            </a:r>
          </a:p>
          <a:p>
            <a:endParaRPr lang="ru-RU" dirty="0"/>
          </a:p>
          <a:p>
            <a:r>
              <a:rPr lang="ru-RU" dirty="0"/>
              <a:t>Написание комментариев в формате </a:t>
            </a:r>
            <a:r>
              <a:rPr lang="ru-RU" dirty="0" err="1"/>
              <a:t>docstring</a:t>
            </a:r>
            <a:endParaRPr lang="ru-RU" dirty="0"/>
          </a:p>
          <a:p>
            <a:endParaRPr lang="ru-RU" dirty="0"/>
          </a:p>
          <a:p>
            <a:r>
              <a:rPr lang="ru-RU" dirty="0"/>
              <a:t>Результат: Повышена надежность, читаемость и расширяемость кода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7A7698-0DA1-DC6A-5336-D03214FF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914" y="1825625"/>
            <a:ext cx="3097347" cy="3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51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B9943-7F3B-4480-E713-368A6506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программного модуля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1A0660-F42D-59EA-AB2C-944CD7A35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81211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Результаты тестирования:</a:t>
            </a:r>
          </a:p>
          <a:p>
            <a:endParaRPr lang="ru-RU" dirty="0"/>
          </a:p>
          <a:p>
            <a:r>
              <a:rPr lang="ru-RU" dirty="0"/>
              <a:t>Основные функции работают корректно</a:t>
            </a:r>
          </a:p>
          <a:p>
            <a:endParaRPr lang="ru-RU" dirty="0"/>
          </a:p>
          <a:p>
            <a:r>
              <a:rPr lang="ru-RU" dirty="0"/>
              <a:t>Ошибки обрабатываются без аварийного завершения программы</a:t>
            </a:r>
          </a:p>
          <a:p>
            <a:endParaRPr lang="ru-RU" dirty="0"/>
          </a:p>
          <a:p>
            <a:r>
              <a:rPr lang="ru-RU" dirty="0"/>
              <a:t>Выявленные баги исправлены</a:t>
            </a:r>
          </a:p>
          <a:p>
            <a:endParaRPr lang="ru-RU" dirty="0"/>
          </a:p>
          <a:p>
            <a:r>
              <a:rPr lang="ru-RU" dirty="0"/>
              <a:t>Лог-файл успешно формируется</a:t>
            </a:r>
          </a:p>
          <a:p>
            <a:endParaRPr lang="ru-RU" dirty="0"/>
          </a:p>
          <a:p>
            <a:r>
              <a:rPr lang="ru-RU" dirty="0"/>
              <a:t>Вывод: Модуль готов к интеграции в основное приложение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E1E328A-A79F-CD68-A663-2C029775A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762" y="2204938"/>
            <a:ext cx="4056024" cy="22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72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B5170-AD11-96F7-2236-9E73D23D1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выводы по практике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1ED7E4-FF38-0122-95AD-3555C9608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ru-RU" dirty="0"/>
              <a:t>В ходе практики были освоены и закреплены следующие навыки:</a:t>
            </a:r>
          </a:p>
          <a:p>
            <a:endParaRPr lang="ru-RU" dirty="0"/>
          </a:p>
          <a:p>
            <a:r>
              <a:rPr lang="ru-RU" dirty="0"/>
              <a:t>Установка и настройка ОС (Windows, Ubuntu, РЕД ОС)</a:t>
            </a:r>
          </a:p>
          <a:p>
            <a:endParaRPr lang="ru-RU" dirty="0"/>
          </a:p>
          <a:p>
            <a:r>
              <a:rPr lang="ru-RU" dirty="0"/>
              <a:t>Работа с системами виртуализации (</a:t>
            </a:r>
            <a:r>
              <a:rPr lang="ru-RU" dirty="0" err="1"/>
              <a:t>VirtualBox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Администрирование локальных веб-серверов (</a:t>
            </a:r>
            <a:r>
              <a:rPr lang="ru-RU" dirty="0" err="1"/>
              <a:t>OpenServer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Разработка и доработка программных модулей на Python</a:t>
            </a:r>
          </a:p>
          <a:p>
            <a:endParaRPr lang="ru-RU" dirty="0"/>
          </a:p>
          <a:p>
            <a:r>
              <a:rPr lang="ru-RU" dirty="0"/>
              <a:t>Тестирование ПО и оформление отчетов об ошибках</a:t>
            </a:r>
          </a:p>
          <a:p>
            <a:endParaRPr lang="ru-RU" dirty="0"/>
          </a:p>
          <a:p>
            <a:r>
              <a:rPr lang="ru-RU" dirty="0"/>
              <a:t>Развертывание сетевых сервисов (</a:t>
            </a:r>
            <a:r>
              <a:rPr lang="ru-RU" dirty="0" err="1"/>
              <a:t>openmediavault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Создание сайтов на CMS </a:t>
            </a:r>
            <a:r>
              <a:rPr lang="ru-RU" dirty="0" err="1"/>
              <a:t>WordPress</a:t>
            </a:r>
            <a:endParaRPr lang="ru-RU" dirty="0"/>
          </a:p>
          <a:p>
            <a:endParaRPr lang="ru-RU" dirty="0"/>
          </a:p>
          <a:p>
            <a:r>
              <a:rPr lang="ru-RU" dirty="0"/>
              <a:t>Практическая значимость:</a:t>
            </a:r>
          </a:p>
          <a:p>
            <a:r>
              <a:rPr lang="ru-RU" dirty="0"/>
              <a:t>Все полученные навыки могут быть применены в профессиональной деятельности IT-специалиста в образовательном учреждении или коммерческой организации.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2FA630-42FE-B517-6616-5ED3EBA72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081" y="1331794"/>
            <a:ext cx="5962405" cy="41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04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9F292A-D579-0C3B-F81E-A609DC92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F12AC5-B512-E703-A9E2-031EBD673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7105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Итоги практики:</a:t>
            </a:r>
          </a:p>
          <a:p>
            <a:endParaRPr lang="ru-RU" dirty="0"/>
          </a:p>
          <a:p>
            <a:r>
              <a:rPr lang="ru-RU" dirty="0"/>
              <a:t>Все поставленные задачи выполнены в полном объеме</a:t>
            </a:r>
          </a:p>
          <a:p>
            <a:endParaRPr lang="ru-RU" dirty="0"/>
          </a:p>
          <a:p>
            <a:r>
              <a:rPr lang="ru-RU" dirty="0"/>
              <a:t>Индивидуальное задание реализовано полностью</a:t>
            </a:r>
          </a:p>
          <a:p>
            <a:endParaRPr lang="ru-RU" dirty="0"/>
          </a:p>
          <a:p>
            <a:r>
              <a:rPr lang="ru-RU" dirty="0"/>
              <a:t>Получен практический опыт работы с современным программным и техническим обеспечением</a:t>
            </a:r>
          </a:p>
          <a:p>
            <a:endParaRPr lang="ru-RU" dirty="0"/>
          </a:p>
          <a:p>
            <a:r>
              <a:rPr lang="ru-RU" dirty="0"/>
              <a:t>Материально-техническая база колледжа соответствует требованиям ФГОС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619BAC1-EA3B-1CC9-8B14-242C6903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411" y="111198"/>
            <a:ext cx="5667931" cy="256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178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</TotalTime>
  <Words>469</Words>
  <Application>Microsoft Office PowerPoint</Application>
  <PresentationFormat>Широкоэкранный</PresentationFormat>
  <Paragraphs>124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quote-cjk-patch</vt:lpstr>
      <vt:lpstr>Times New Roman</vt:lpstr>
      <vt:lpstr>Тема Office</vt:lpstr>
      <vt:lpstr>   ПМ.04 Сопровождение и обслуживание программного обеспечения компьютерных систем  </vt:lpstr>
      <vt:lpstr>Цели и задачи практики</vt:lpstr>
      <vt:lpstr>Установка и настройка ОС (VirtualBox + Ubuntu)</vt:lpstr>
      <vt:lpstr>Установка ОС (РЕД ОС 8)</vt:lpstr>
      <vt:lpstr>Сравнительный анализ ОС </vt:lpstr>
      <vt:lpstr>Доработка программного модуля</vt:lpstr>
      <vt:lpstr>Тестирование программного модуля</vt:lpstr>
      <vt:lpstr>Основные выводы по практике</vt:lpstr>
      <vt:lpstr> 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МОДУЛЯ ДЛЯ АВТОМАТИЗАЦИИ УЧЕТА АНАЛИЗОВ МЕДИЦИНСКОЙ ЛАБОРАТОРИИ</dc:title>
  <dc:creator>Наташа Коротких</dc:creator>
  <cp:lastModifiedBy>Nout6</cp:lastModifiedBy>
  <cp:revision>97</cp:revision>
  <dcterms:created xsi:type="dcterms:W3CDTF">2024-10-25T10:47:39Z</dcterms:created>
  <dcterms:modified xsi:type="dcterms:W3CDTF">2026-05-05T06:13:03Z</dcterms:modified>
</cp:coreProperties>
</file>